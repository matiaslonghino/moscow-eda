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Anuncios</c:v>
                </c:pt>
              </c:strCache>
            </c:strRef>
          </c:tx>
          <c:spPr>
            <a:solidFill>
              <a:srgbClr val="71354D"/>
            </a:solidFill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2.7</c:v>
                </c:pt>
                <c:pt idx="1">
                  <c:v>5.3</c:v>
                </c:pt>
                <c:pt idx="2">
                  <c:v>7.8</c:v>
                </c:pt>
                <c:pt idx="3">
                  <c:v>10.4</c:v>
                </c:pt>
                <c:pt idx="4">
                  <c:v>13.0</c:v>
                </c:pt>
                <c:pt idx="5">
                  <c:v>15.6</c:v>
                </c:pt>
                <c:pt idx="6">
                  <c:v>18.2</c:v>
                </c:pt>
                <c:pt idx="7">
                  <c:v>20.8</c:v>
                </c:pt>
                <c:pt idx="8">
                  <c:v>23.4</c:v>
                </c:pt>
                <c:pt idx="9">
                  <c:v>26.0</c:v>
                </c:pt>
                <c:pt idx="10">
                  <c:v>28.6</c:v>
                </c:pt>
                <c:pt idx="11">
                  <c:v>31.2</c:v>
                </c:pt>
                <c:pt idx="12">
                  <c:v>33.8</c:v>
                </c:pt>
                <c:pt idx="13">
                  <c:v>36.3</c:v>
                </c:pt>
                <c:pt idx="14">
                  <c:v>38.9</c:v>
                </c:pt>
                <c:pt idx="15">
                  <c:v>41.5</c:v>
                </c:pt>
                <c:pt idx="16">
                  <c:v>44.1</c:v>
                </c:pt>
                <c:pt idx="17">
                  <c:v>46.7</c:v>
                </c:pt>
                <c:pt idx="18">
                  <c:v>49.3</c:v>
                </c:pt>
                <c:pt idx="19">
                  <c:v>51.9</c:v>
                </c:pt>
                <c:pt idx="20">
                  <c:v>54.5</c:v>
                </c:pt>
                <c:pt idx="21">
                  <c:v>57.1</c:v>
                </c:pt>
                <c:pt idx="22">
                  <c:v>59.7</c:v>
                </c:pt>
                <c:pt idx="23">
                  <c:v>62.2</c:v>
                </c:pt>
                <c:pt idx="24">
                  <c:v>64.8</c:v>
                </c:pt>
                <c:pt idx="25">
                  <c:v>67.4</c:v>
                </c:pt>
                <c:pt idx="26">
                  <c:v>70.0</c:v>
                </c:pt>
                <c:pt idx="27">
                  <c:v>72.6</c:v>
                </c:pt>
                <c:pt idx="28">
                  <c:v>75.2</c:v>
                </c:pt>
                <c:pt idx="29">
                  <c:v>77.8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344</c:v>
                </c:pt>
                <c:pt idx="1">
                  <c:v>983</c:v>
                </c:pt>
                <c:pt idx="2">
                  <c:v>1191</c:v>
                </c:pt>
                <c:pt idx="3">
                  <c:v>1177</c:v>
                </c:pt>
                <c:pt idx="4">
                  <c:v>1109</c:v>
                </c:pt>
                <c:pt idx="5">
                  <c:v>881</c:v>
                </c:pt>
                <c:pt idx="6">
                  <c:v>623</c:v>
                </c:pt>
                <c:pt idx="7">
                  <c:v>469</c:v>
                </c:pt>
                <c:pt idx="8">
                  <c:v>345</c:v>
                </c:pt>
                <c:pt idx="9">
                  <c:v>249</c:v>
                </c:pt>
                <c:pt idx="10">
                  <c:v>183</c:v>
                </c:pt>
                <c:pt idx="11">
                  <c:v>112</c:v>
                </c:pt>
                <c:pt idx="12">
                  <c:v>104</c:v>
                </c:pt>
                <c:pt idx="13">
                  <c:v>66</c:v>
                </c:pt>
                <c:pt idx="14">
                  <c:v>45</c:v>
                </c:pt>
                <c:pt idx="15">
                  <c:v>35</c:v>
                </c:pt>
                <c:pt idx="16">
                  <c:v>33</c:v>
                </c:pt>
                <c:pt idx="17">
                  <c:v>17</c:v>
                </c:pt>
                <c:pt idx="18">
                  <c:v>9</c:v>
                </c:pt>
                <c:pt idx="19">
                  <c:v>8</c:v>
                </c:pt>
                <c:pt idx="20">
                  <c:v>5</c:v>
                </c:pt>
                <c:pt idx="21">
                  <c:v>3</c:v>
                </c:pt>
                <c:pt idx="22">
                  <c:v>4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A-4C84-A590-61ABD6AFC7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1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1E1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 por una DE</c:v>
                </c:pt>
              </c:strCache>
            </c:strRef>
          </c:tx>
          <c:spPr>
            <a:solidFill>
              <a:srgbClr val="71354D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total_area</c:v>
                </c:pt>
                <c:pt idx="1">
                  <c:v>listing_year</c:v>
                </c:pt>
                <c:pt idx="2">
                  <c:v>complex_class_premium</c:v>
                </c:pt>
                <c:pt idx="3">
                  <c:v>subsidized_mortgage</c:v>
                </c:pt>
                <c:pt idx="4">
                  <c:v>metro_to_center_km</c:v>
                </c:pt>
                <c:pt idx="5">
                  <c:v>total_floors</c:v>
                </c:pt>
                <c:pt idx="6">
                  <c:v>floor</c:v>
                </c:pt>
                <c:pt idx="7">
                  <c:v>metro_year_opened</c:v>
                </c:pt>
                <c:pt idx="8">
                  <c:v>listing_month_cos</c:v>
                </c:pt>
                <c:pt idx="9">
                  <c:v>listing_month_sin</c:v>
                </c:pt>
                <c:pt idx="10">
                  <c:v>lat</c:v>
                </c:pt>
                <c:pt idx="11">
                  <c:v>complex_class_comfort</c:v>
                </c:pt>
                <c:pt idx="12">
                  <c:v>complex_class_economy</c:v>
                </c:pt>
                <c:pt idx="13">
                  <c:v>nearest_metro_km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0.32426648066264963</c:v>
                </c:pt>
                <c:pt idx="1">
                  <c:v>8.9937715610426058E-2</c:v>
                </c:pt>
                <c:pt idx="2">
                  <c:v>6.7257625797340362E-2</c:v>
                </c:pt>
                <c:pt idx="3">
                  <c:v>2.3012667095910905E-2</c:v>
                </c:pt>
                <c:pt idx="4">
                  <c:v>1.8168590117051898E-2</c:v>
                </c:pt>
                <c:pt idx="5">
                  <c:v>6.002567680845939E-3</c:v>
                </c:pt>
                <c:pt idx="6">
                  <c:v>4.6923667939561828E-3</c:v>
                </c:pt>
                <c:pt idx="7">
                  <c:v>-5.8836750803007978E-3</c:v>
                </c:pt>
                <c:pt idx="8">
                  <c:v>-7.5301037635339581E-3</c:v>
                </c:pt>
                <c:pt idx="9">
                  <c:v>-2.2042088410290938E-2</c:v>
                </c:pt>
                <c:pt idx="10">
                  <c:v>-0.12259671300525345</c:v>
                </c:pt>
                <c:pt idx="11">
                  <c:v>-0.16675440923542173</c:v>
                </c:pt>
                <c:pt idx="12">
                  <c:v>-0.23599432509002388</c:v>
                </c:pt>
                <c:pt idx="13">
                  <c:v>-0.24242867057413642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B-4C10-8D7E-53D7DD1D5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1E7"/>
            </a:solidFill>
            <a:prstDash val="solid"/>
            <a:round/>
          </a:ln>
        </c:spPr>
        <c:txPr>
          <a:bodyPr/>
          <a:lstStyle/>
          <a:p>
            <a:pPr>
              <a:defRPr sz="1140" b="0" i="0" u="none" strike="noStrike">
                <a:solidFill>
                  <a:srgbClr val="6C7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-0.3"/>
        </c:scaling>
        <c:delete val="0"/>
        <c:axPos val="t"/>
        <c:majorGridlines>
          <c:spPr>
            <a:ln w="12700" cap="flat">
              <a:solidFill>
                <a:srgbClr val="E1E1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E1E1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Test</c:v>
                </c:pt>
              </c:strCache>
            </c:strRef>
          </c:tx>
          <c:spPr>
            <a:solidFill>
              <a:srgbClr val="71354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Forward BIC</c:v>
                </c:pt>
                <c:pt idx="1">
                  <c:v>Backward precisión</c:v>
                </c:pt>
                <c:pt idx="2">
                  <c:v>Backward equilibrado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1.7072475640149083</c:v>
                </c:pt>
                <c:pt idx="1">
                  <c:v>1.8136031904047949</c:v>
                </c:pt>
                <c:pt idx="2">
                  <c:v>1.844176781268607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13-410A-8298-8A3E51CD0A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1E7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C7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0499999999999998"/>
        </c:scaling>
        <c:delete val="0"/>
        <c:axPos val="t"/>
        <c:majorGridlines>
          <c:spPr>
            <a:ln w="12700" cap="flat">
              <a:solidFill>
                <a:srgbClr val="E1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1E1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9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Proyecto Moscow-EDA, propiedades nuevas. Presentación de Introducción al análisis de datos. Matias Longhino y Tomas Montilla, 27 de octubre de 2026. Se estudia el recorrido desde el EDA hasta la selección de un modelo OLS.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objetivo fue estimar el precio publicado de propiedades nuevas en Moscú. El dataset integra 8.000 anuncios de 250 complejos. El abordaje conecta exploración, formulación de hipótesis, experimentos y evaluación.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precio presenta asimetría positiva: media de 14,18 millones de RUB y mediana de 12,41 millones. La superficie mantiene una correlación de 0,520 con el precio; el EDA motivó explorar el logaritmo de la variable respuesta.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matriz de Pearson permitió examinar relaciones entre predictores: área y ambientes r=0,917, y distancia al centro y minutos r=0,928. Esta evidencia orientó las decisiones de transformación y selección de variables.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fijó un baseline OLS sobre ln(precio), con 24 características conceptuales y 155 columnas. Los errores se expresan nuevamente en RUB mediante exponenciación y el ajuste smearing de Duan. Se usaron 6.400 anuncios Train, con 1.280 de holdout interno, y 1.600 Test reservados.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exploraron Forward AIC, Forward BIC y Forward con R² ajustado. BIC seleccionó 12 grupos y 122 columnas: MAE de holdout 4,12 % menor y RMSE 3,13 % menor que el baseline. La tabla resume todas las alternativas en el mismo protocolo.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Backward exploró 79 subconjuntos de las características seleccionadas por Forward BIC. Entre las alternativas se presentaron una de mayor precisión, una equilibrada y una de menor tamaño, para estudiar la relación entre error y simplicidad.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de baseline logarítmico y Forward BIC, con R², R² ajustado, AIC y BIC de Train; y MAE, RMSE y R² de holdout en RUB. Forward BIC obtiene menor BIC y menores errores de validación. Los números se conservan tal como constan en los experimentos.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Forward BIC seleccionó 12 características conceptuales y 122 columnas OLS, además del intercepto. Incluye distrito, superficie, clase del complejo, año y mes del anuncio, hipoteca subsidiada, factores de metro, latitud y altura del edificio.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gráfica representa 14 coeficientes no distritales en una escala comparable de beta por desviación estándar del predictor. Los contrastes específicos indican +20,69 % para 10 m² adicionales, +7,56 % por año del anuncio y +39,98 % para premium frente a business, manteniendo los demás predictores constantes.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comparan Q-Q plots del baseline logarítmico y de Forward BIC sobre los mismos 6.400 registros Train. Las escalas y la recta teórica de referencia son comunes, lo que hace directa la lectura de la distribución de residuos.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muestran Scale-Location plots de ambos modelos. Cada gráfico representa la raíz del valor absoluto del residuo studentizado y el valor ajustado en escala logarítmica; se empleó el mismo suavizado LOWESS.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diseños congelados se evaluaron sobre los 1.600 anuncios Test. Forward BIC registró el menor MAE: 1.707.248 RUB, RMSE de 2.667.095 RUB y R² de 0,908745.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selección final es Forward BIC, con 12 características y 122 columnas OLS. Reduce el MAE de holdout 4,12 % frente al baseline y obtiene el mejor MAE Test de los tres diseños evaluados. Ubicación, superficie, clase del complejo y temporalidad articulan su lectura.</a:t>
            </a:r>
          </a:p>
          <a:p/>
          <a:p>
            <a:r>
              <a:t>Fuentes: notebooks y resultados registrados en Ventas/Propiedades_Nuevas del proyecto Moscow-EDA.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Moscow-EDA · Propiedades nuevas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" y="566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MOSCÚ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594360" y="1856232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nuevas: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selección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modelo OLS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40080" y="4736592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análisis de datos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Matias Longhino y Tomas Montilla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de octubre de 2026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3920" y="4709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06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→ 12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540496" y="5513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conceptuales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Forward BIC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es estimar precios de publicación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EDA; Modelo_OLS.ipynb · alcance y partición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30352" y="1499883"/>
            <a:ext cx="6915477" cy="12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Relacionar el precio con las características de la propiedad, su ubicación y el momento del anuncio.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0352" y="323697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8.000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530352" y="398678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anuncios de propiedades nuevas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complejos residenciales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" y="56509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→ EDA → Hipótesis → Experimentos → Selección → Diagnóstico</a:t>
            </a:r>
            <a:endParaRPr lang="en-US" sz="1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EB3E81B-66C1-30A1-EBAA-906837296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85" y="2947574"/>
            <a:ext cx="1442852" cy="14428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es asimétrico y se relaciona con la superficie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Analisis_Venta_PropNueva.ipynb · EDA sobre los 8.000 anuncios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" y="13075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derecha del precio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0" y="13075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 y precio</a:t>
            </a:r>
            <a:endParaRPr lang="en-US" sz="2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810512"/>
          <a:ext cx="5166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1097280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(millones de RUB)</a:t>
            </a:r>
            <a:endParaRPr lang="en-US" sz="1200" dirty="0"/>
          </a:p>
        </p:txBody>
      </p:sp>
      <p:pic>
        <p:nvPicPr>
          <p:cNvPr id="10" name="Image 0" descr="C:\Users\mglon\OneDrive\Desktop\UNIVERSIDAD\Introduccion al analisis de datos\MOSCOW DATASET\Moscow_EDA\tmp\presentacion_nuevas\assets\area_pre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476" y="1783080"/>
            <a:ext cx="4843849" cy="3200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50932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Media: 14,18 M RUB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Mediana: 12,41 M RUB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 permite modelar diferencias relativas.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446520" y="509320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700">
                <a:solidFill>
                  <a:srgbClr val="2D3039"/>
                </a:solidFill>
                <a:latin typeface="Arial"/>
              </a:rPr>
              <a:t>r = 0,520 con total_area.</a:t>
            </a:r>
          </a:p>
          <a:p>
            <a:pPr/>
            <a:r>
              <a:rPr sz="1700">
                <a:solidFill>
                  <a:srgbClr val="2D3039"/>
                </a:solidFill>
                <a:latin typeface="Arial"/>
              </a:rPr>
              <a:t>El área aporta una señal relevante al análisis multivariable.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3100" b="1">
                <a:solidFill>
                  <a:srgbClr val="2D3039"/>
                </a:solidFill>
                <a:latin typeface="Arial"/>
              </a:rPr>
              <a:t>La correlación orientó la elección de predictores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EDA, matriz de Pearson; Transformacion_OLS.ipynb · exclusiones previas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766560" cy="313639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Min. metro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6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F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6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6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4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F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4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6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Min. metro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54864" marB="5486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754112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posteriores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772400" y="2212848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ambientes: r = 0,917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pueden aportar información redundante.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 / minutos: r = 0,928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ubicación exige controles conjuntos.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772400" y="501091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700">
                <a:solidFill>
                  <a:srgbClr val="71354D"/>
                </a:solidFill>
                <a:latin typeface="Arial"/>
              </a:rPr>
              <a:t>Se priorizaron predictores explicativos y se retiraron variables derivadas del precio.</a:t>
            </a:r>
          </a:p>
        </p:txBody>
      </p:sp>
      <p:sp>
        <p:nvSpPr>
          <p:cNvPr id="10" name="Text 6"/>
          <p:cNvSpPr/>
          <p:nvPr/>
        </p:nvSpPr>
        <p:spPr>
          <a:xfrm>
            <a:off x="640080" y="5897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1600">
                <a:solidFill>
                  <a:srgbClr val="6C707A"/>
                </a:solidFill>
                <a:latin typeface="Arial"/>
              </a:rPr>
              <a:t>La matriz de correlación aportó evidencia para los experimentos posteriores.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baseline logarítmico fijó una referencia común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Transformacion_OLS.ipynb; Modelo_OLS.ipynb · baseline y protocolo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155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40080" y="22219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conceptuales / columnas OLS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un intercepto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4652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ln(precio)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446520" y="22219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ajuste modela una respuesta logarítmica.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se expresa en RUB.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474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Transformaciones con sentido de dominio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10698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 con One-Hot · calendario anual y cíclico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 geográfica al metro · piso relativo · entrega aproximada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0080" y="47274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a RUB: exp(predicción log) × smearing de Duan, estimado en cada ajuste.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6.400 Train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892040" y="5166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1.280 de holdout interno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40080" y="5733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1.600 Test reservados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573328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5.120 para ajuste interno · holdout desde 28/05/2024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BIC redujo complejidad y error de validación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Train: log(RUB); holdout: RMSE en RUB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Grupos /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columnas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Train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(log)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ajust.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(log)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AIC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holdout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(RUB)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/ 155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0,96574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0,96489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-9.498,55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-8.443,36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2.670.162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AIC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/ 149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0,96570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0,96488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−9.502,14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−8.487,54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2.678.705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BIC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/ 122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0,96523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0,96455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-9.468,71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-8.636,73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b="1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2.586.593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R² aj.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/ 153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0,96573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0,96489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−9.500,69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−8.459,02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3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2.668.124</a:t>
                      </a:r>
                      <a:endParaRPr lang="en-US" sz="13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521208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BIC: MAE −4,12 % y RMSE −3,13 % frente al baseline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0080" y="5687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800">
                <a:solidFill>
                  <a:srgbClr val="2D3039"/>
                </a:solidFill>
                <a:latin typeface="Arial"/>
              </a:rPr>
              <a:t>Forward BIC combinó una menor cantidad de características con mejores métricas de validación.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exploró cuánto simplificar el diseño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Backward, 79 subconjuntos y 7 puntos de Pareto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Columnas OLS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de selección (RUB)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 precisión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1.617.738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Equilibrado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1.664.212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reducido admisible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1.830.838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82296" marB="82296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754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equilibrado conserva district, total_area, complex_class y listing_year.</a:t>
            </a:r>
            <a:endParaRPr lang="en-US" sz="2200" dirty="0"/>
          </a:p>
        </p:txBody>
      </p:sp>
      <p:sp>
        <p:nvSpPr>
          <p:cNvPr id="5" name="Text 4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800">
                <a:solidFill>
                  <a:srgbClr val="2D3039"/>
                </a:solidFill>
                <a:latin typeface="Arial"/>
              </a:rPr>
              <a:t>Se compararon 79 subconjuntos y distintas alternativas de equilibrio entre precisión y cantidad de características.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vs. Forward BIC: comparación de métricas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comparación final; artefactos baseline y Forward BIC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677697"/>
              </p:ext>
            </p:extLst>
          </p:nvPr>
        </p:nvGraphicFramePr>
        <p:xfrm>
          <a:off x="548640" y="1371600"/>
          <a:ext cx="11064240" cy="3730752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 y alcance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log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BIC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 BIC − baseline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Características finales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13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Columnas OLS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· Train (log)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0,965743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0,965226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−0,000517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ajustado · Train (log)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0,964893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0,964550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−0,000342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AIC · Train (log)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-9.498,55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-9.468,71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5F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 · Train (log)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-8.443,36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-8.636,73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−193,37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· holdout (RUB)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1.745.629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1.673.634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−71.995 (-4,12 %)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· holdout (RUB)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2.670.162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2.586.593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−83.569 (-3,13 %)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· holdout (RUB)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0,911404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0,916863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+0,005459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2004" marB="32004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52297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900" b="1">
                <a:solidFill>
                  <a:srgbClr val="71354D"/>
                </a:solidFill>
                <a:latin typeface="Arial"/>
              </a:rPr>
              <a:t>Forward BIC destacó por su BIC y por reducir el error de validación con 12 características.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610819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holdout de BIC evalúa el procedimiento interno de 10 grupos; el diseño final contiene 12.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definitivo conserva 12 características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Modelo_OLS.ipynb; seleccion_forward.json y mapa de columnas · Forward BIC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178040" cy="3803904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Seleccionadas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Representación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Cols.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3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Distrito de Moscú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total_area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Superficie total (m²)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complex_class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 del complejo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listing_year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Año del anuncio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listing_month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Mes: seno y coseno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subsidized_mortgage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Hipoteca subsidiada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metro_to_center_km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Estación al centro (km)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nearest_metro_km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 más cercano (km)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Latitud de la propiedad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Piso de la propiedad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metro_year_opened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Apertura de la estación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total_floors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Pisos totales del edificio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D3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2860" marB="22860">
                    <a:lnL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3816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Descartadas por BIC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156448" y="2057400"/>
            <a:ext cx="349300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ready_status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deal_type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metro_line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to_center_km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mortgage_rate_at_listing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metro_lat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metro_lon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months_to_completion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relative_floor</a:t>
            </a:r>
            <a:endParaRPr lang="en-US" sz="1470" dirty="0"/>
          </a:p>
        </p:txBody>
      </p:sp>
      <p:sp>
        <p:nvSpPr>
          <p:cNvPr id="9" name="Text 5"/>
          <p:cNvSpPr/>
          <p:nvPr/>
        </p:nvSpPr>
        <p:spPr>
          <a:xfrm>
            <a:off x="640080" y="5897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columnas + intercepto</a:t>
            </a:r>
            <a:endParaRPr lang="en-US" sz="2200" dirty="0"/>
          </a:p>
        </p:txBody>
      </p:sp>
      <p:sp>
        <p:nvSpPr>
          <p:cNvPr id="5" name="Text 6"/>
          <p:cNvSpPr/>
          <p:nvPr/>
        </p:nvSpPr>
        <p:spPr>
          <a:xfrm>
            <a:off x="8138160" y="53492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completos: se agrega el que más reduce BIC, hasta que el criterio no mejora.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Coeficientes: signo y magnitud en una escala común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BIC · coeficientes registrados; DE de cada columna en Train (n=6.400)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coeficientes no distritales · β × DE(Xj) en Train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700784"/>
          <a:ext cx="8366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1965960" y="6016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estimado en log(precio) por 1 DE de la columna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14400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Contrastes concretos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0" y="2331720"/>
            <a:ext cx="2468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m²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+20,69 %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año del anuncio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+7,56 %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vs. business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+39,98 %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0" y="543153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dummies de distrito fuera de esta vista. Magnitud de coeficiente ≠ importancia predictiva.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3100" b="1">
                <a:solidFill>
                  <a:srgbClr val="2D3039"/>
                </a:solidFill>
                <a:latin typeface="Arial"/>
              </a:rPr>
              <a:t>Q-Q Plot: comparación del comportamiento residual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Q-Q guardado, mismos 6.400 Train; ajustes definitivos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C:\Users\mglon\OneDrive\Desktop\UNIVERSIDAD\Introduccion al analisis de datos\MOSCOW DATASET\Moscow_EDA\tmp\presentacion_nuevas\historical_images\Modelo_OLS_3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04" y="1325880"/>
            <a:ext cx="9230936" cy="4370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7790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700" b="1">
                <a:solidFill>
                  <a:srgbClr val="71354D"/>
                </a:solidFill>
                <a:latin typeface="Arial"/>
              </a:rPr>
              <a:t>Los gráficos utilizan las mismas observaciones y escalas para comparar la distribución de los residuos del baseline y Forward BIC.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3100" b="1">
                <a:solidFill>
                  <a:srgbClr val="2D3039"/>
                </a:solidFill>
                <a:latin typeface="Arial"/>
              </a:rPr>
              <a:t>Scale-Location: comparación de la dispersión residual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comparación guardada, mismos 6.400 Train y escala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C:\Users\mglon\OneDrive\Desktop\UNIVERSIDAD\Introduccion al analisis de datos\MOSCOW DATASET\Moscow_EDA\tmp\presentacion_nuevas\historical_images\Modelo_OLS_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65054"/>
            <a:ext cx="11064240" cy="3956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800" b="1">
                <a:solidFill>
                  <a:srgbClr val="71354D"/>
                </a:solidFill>
                <a:latin typeface="Arial"/>
              </a:rPr>
              <a:t>Ambos gráficos comparten la misma escala y el suavizado LOWESS, facilitando el contraste visual de los residuos.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BIC obtuvo el menor MAE en Test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tres diseños congelados, mismos 1.600 anuncios Test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08760"/>
          <a:ext cx="6858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2194560" y="51572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Test (millones de RUB) · menor es mejor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028432" y="15727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1.707.248</a:t>
            </a:r>
            <a:endParaRPr lang="en-US" sz="4300" dirty="0"/>
          </a:p>
        </p:txBody>
      </p:sp>
      <p:sp>
        <p:nvSpPr>
          <p:cNvPr id="9" name="Text 5"/>
          <p:cNvSpPr/>
          <p:nvPr/>
        </p:nvSpPr>
        <p:spPr>
          <a:xfrm>
            <a:off x="8028432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 · MAE Test de Forward BIC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grupos / 122 columnas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065008" y="4023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Test: 2.667.095 RUB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Test: 0,908745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3100" b="1">
                <a:solidFill>
                  <a:srgbClr val="2D3039"/>
                </a:solidFill>
                <a:latin typeface="Arial"/>
              </a:rPr>
              <a:t>Forward BIC: precisión y simplicidad en el modelo final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Modelo_OLS.ipynb · cierre; Auditoria_Conclusiones_Propiedades_Nuevas.md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713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BIC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40080" y="222199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características conceptuales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columnas OLS + intercepto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20840" y="14173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B06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−4,12 %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720840" y="22219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al baseline en el holdout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MAE Test de los tres diseños evaluados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50215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2300" b="1">
                <a:solidFill>
                  <a:srgbClr val="2D3039"/>
                </a:solidFill>
                <a:latin typeface="Arial"/>
              </a:rPr>
              <a:t>La ubicación, la superficie, la clase del complejo y el tiempo son los ejes del modelo seleccionado.</a:t>
            </a:r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2000" b="1">
                <a:solidFill>
                  <a:srgbClr val="71354D"/>
                </a:solidFill>
                <a:latin typeface="Arial"/>
              </a:rPr>
              <a:t>Logros de la selección final</a:t>
            </a:r>
          </a:p>
        </p:txBody>
      </p:sp>
      <p:sp>
        <p:nvSpPr>
          <p:cNvPr id="12" name="Text 9"/>
          <p:cNvSpPr/>
          <p:nvPr/>
        </p:nvSpPr>
        <p:spPr>
          <a:xfrm>
            <a:off x="640080" y="5102352"/>
            <a:ext cx="10789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sz="1800">
                <a:solidFill>
                  <a:srgbClr val="2D3039"/>
                </a:solidFill>
                <a:latin typeface="Arial"/>
              </a:rPr>
              <a:t>Reducción de 24 a 12 características conceptuales.</a:t>
            </a:r>
          </a:p>
          <a:p>
            <a:pPr/>
            <a:r>
              <a:rPr sz="1800">
                <a:solidFill>
                  <a:srgbClr val="2D3039"/>
                </a:solidFill>
                <a:latin typeface="Arial"/>
              </a:rPr>
              <a:t>Resultados respaldados por la comparación de experimentos y la evaluación en Test.</a:t>
            </a:r>
          </a:p>
        </p:txBody>
      </p:sp>
      <p:sp>
        <p:nvSpPr>
          <p:cNvPr id="13" name="Text 10"/>
          <p:cNvSpPr/>
          <p:nvPr/>
        </p:nvSpPr>
        <p:spPr>
          <a:xfrm>
            <a:off x="640080" y="60624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sz="1600" b="1">
                <a:solidFill>
                  <a:srgbClr val="71354D"/>
                </a:solidFill>
                <a:latin typeface="Arial"/>
              </a:rPr>
              <a:t>Forward BIC fue seleccionado por el equilibrio obtenido entre precisión y complejidad.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11109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D3039"/>
                </a:solidFill>
                <a:latin typeface="Aptos"/>
              </a:rPr>
              <a:t>Resumen final: del análisis a la elección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354D"/>
                </a:solidFill>
                <a:latin typeface="Aptos"/>
              </a:rPr>
              <a:t>TRES ETAPAS DEL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319272" cy="2670048"/>
          </a:xfrm>
          <a:prstGeom prst="roundRect">
            <a:avLst>
              <a:gd name="adj" fmla="val 11000"/>
            </a:avLst>
          </a:prstGeom>
          <a:solidFill>
            <a:srgbClr val="F9F6F7"/>
          </a:solidFill>
          <a:ln>
            <a:solidFill>
              <a:srgbClr val="E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319272" cy="64008"/>
          </a:xfrm>
          <a:prstGeom prst="rect">
            <a:avLst/>
          </a:prstGeom>
          <a:solidFill>
            <a:srgbClr val="71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47088"/>
            <a:ext cx="9144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642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4028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354D"/>
                </a:solidFill>
                <a:latin typeface="Aptos"/>
              </a:rPr>
              <a:t>Exploración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88920"/>
            <a:ext cx="28712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D3039"/>
                </a:solidFill>
                <a:latin typeface="Aptos"/>
              </a:rPr>
              <a:t>8.000 anuncios 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3039"/>
                </a:solidFill>
                <a:latin typeface="Aptos"/>
              </a:rPr>
              <a:t>propiedades nuevas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0332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6C707A"/>
                </a:solidFill>
                <a:latin typeface="Aptos"/>
              </a:rPr>
              <a:t>EDA univariado, bivariado y correlaciones.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8808" y="1572768"/>
            <a:ext cx="3319272" cy="2670048"/>
          </a:xfrm>
          <a:prstGeom prst="roundRect">
            <a:avLst>
              <a:gd name="adj" fmla="val 11000"/>
            </a:avLst>
          </a:prstGeom>
          <a:solidFill>
            <a:srgbClr val="F9F6F7"/>
          </a:solidFill>
          <a:ln>
            <a:solidFill>
              <a:srgbClr val="E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8" y="1572768"/>
            <a:ext cx="3319272" cy="64008"/>
          </a:xfrm>
          <a:prstGeom prst="rect">
            <a:avLst/>
          </a:prstGeom>
          <a:solidFill>
            <a:srgbClr val="71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847088"/>
            <a:ext cx="9144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6429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24028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354D"/>
                </a:solidFill>
                <a:latin typeface="Aptos"/>
              </a:rPr>
              <a:t>Experimentación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788920"/>
            <a:ext cx="28712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D3039"/>
                </a:solidFill>
                <a:latin typeface="Aptos"/>
              </a:rPr>
              <a:t>Baseline logarítmico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3039"/>
                </a:solidFill>
                <a:latin typeface="Aptos"/>
              </a:rPr>
              <a:t>y modelos 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370332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6C707A"/>
                </a:solidFill>
                <a:latin typeface="Aptos"/>
              </a:rPr>
              <a:t>Forward AIC, BIC, R² ajustado y Backward.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1572768"/>
            <a:ext cx="3319272" cy="2670048"/>
          </a:xfrm>
          <a:prstGeom prst="roundRect">
            <a:avLst>
              <a:gd name="adj" fmla="val 11000"/>
            </a:avLst>
          </a:prstGeom>
          <a:solidFill>
            <a:srgbClr val="F9F6F7"/>
          </a:solidFill>
          <a:ln>
            <a:solidFill>
              <a:srgbClr val="E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17536" y="1572768"/>
            <a:ext cx="3319272" cy="64008"/>
          </a:xfrm>
          <a:prstGeom prst="rect">
            <a:avLst/>
          </a:prstGeom>
          <a:solidFill>
            <a:srgbClr val="71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1847088"/>
            <a:ext cx="9144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642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24028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1354D"/>
                </a:solidFill>
                <a:latin typeface="Aptos"/>
              </a:rPr>
              <a:t>Selección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788920"/>
            <a:ext cx="287121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D3039"/>
                </a:solidFill>
                <a:latin typeface="Aptos"/>
              </a:rPr>
              <a:t>Forward BIC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3039"/>
                </a:solidFill>
                <a:latin typeface="Aptos"/>
              </a:rPr>
              <a:t>12 características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370332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6C707A"/>
                </a:solidFill>
                <a:latin typeface="Aptos"/>
              </a:rPr>
              <a:t>122 columnas OLS más intercepto.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17136"/>
            <a:ext cx="10396728" cy="1408176"/>
          </a:xfrm>
          <a:prstGeom prst="roundRect">
            <a:avLst>
              <a:gd name="adj" fmla="val 11000"/>
            </a:avLst>
          </a:prstGeom>
          <a:solidFill>
            <a:srgbClr val="F7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17136"/>
            <a:ext cx="91440" cy="1408176"/>
          </a:xfrm>
          <a:prstGeom prst="rect">
            <a:avLst/>
          </a:prstGeom>
          <a:solidFill>
            <a:srgbClr val="71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681728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1354D"/>
                </a:solidFill>
                <a:latin typeface="Aptos"/>
              </a:rPr>
              <a:t>RESULTADO DESTACADO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047488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B06429"/>
                </a:solidFill>
                <a:latin typeface="Aptos"/>
              </a:rPr>
              <a:t>−4,12 %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5157216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D3039"/>
                </a:solidFill>
                <a:latin typeface="Aptos"/>
              </a:rPr>
              <a:t>MAE en holdout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D3039"/>
                </a:solidFill>
                <a:latin typeface="Aptos"/>
              </a:rPr>
              <a:t>frente al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4965192"/>
            <a:ext cx="336499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1354D"/>
                </a:solidFill>
                <a:latin typeface="Aptos"/>
              </a:rPr>
              <a:t>1.707.248 RUB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5532120"/>
            <a:ext cx="31912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C707A"/>
                </a:solidFill>
                <a:latin typeface="Aptos"/>
              </a:rPr>
              <a:t>Mejor MAE Test de los 3 diseños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99048"/>
            <a:ext cx="106070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D3039"/>
                </a:solidFill>
                <a:latin typeface="Aptos"/>
              </a:rPr>
              <a:t>Del EDA a un modelo OLS parsimonioso, con variables seleccionadas y evaluación comparativa.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41908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C707A"/>
                </a:solidFill>
                <a:latin typeface="Aptos"/>
              </a:rPr>
              <a:t>Proyecto Moscow-EDA · Propiedades nuevas · síntesis 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008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C70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3770</Words>
  <Application>Microsoft Office PowerPoint</Application>
  <PresentationFormat>Panorámica</PresentationFormat>
  <Paragraphs>348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Propiedades nuevas en Moscú: análisis y selección de un modelo OLS</dc:title>
  <dc:subject>Análisis exploratorio, experimentos OLS, selección y diagnóstico</dc:subject>
  <dc:creator>Matias Longhino y Tomas Montilla</dc:creator>
  <cp:lastModifiedBy>Gaston Longhino</cp:lastModifiedBy>
  <cp:revision>3</cp:revision>
  <dcterms:created xsi:type="dcterms:W3CDTF">2026-10-27T18:40:05Z</dcterms:created>
  <dcterms:modified xsi:type="dcterms:W3CDTF">2026-10-27T19:05:38Z</dcterms:modified>
</cp:coreProperties>
</file>